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7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47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10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9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10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31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1.png"/><Relationship Id="rId5" Type="http://schemas.openxmlformats.org/officeDocument/2006/relationships/image" Target="../media/image66.png"/><Relationship Id="rId15" Type="http://schemas.openxmlformats.org/officeDocument/2006/relationships/image" Target="../media/image74.png"/><Relationship Id="rId10" Type="http://schemas.openxmlformats.org/officeDocument/2006/relationships/image" Target="../media/image70.png"/><Relationship Id="rId4" Type="http://schemas.openxmlformats.org/officeDocument/2006/relationships/image" Target="../media/image10.png"/><Relationship Id="rId9" Type="http://schemas.openxmlformats.org/officeDocument/2006/relationships/image" Target="../media/image69.png"/><Relationship Id="rId14" Type="http://schemas.openxmlformats.org/officeDocument/2006/relationships/image" Target="../media/image7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image" Target="../media/image9.png"/><Relationship Id="rId7" Type="http://schemas.openxmlformats.org/officeDocument/2006/relationships/image" Target="../media/image77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84.png"/><Relationship Id="rId10" Type="http://schemas.openxmlformats.org/officeDocument/2006/relationships/image" Target="../media/image80.png"/><Relationship Id="rId19" Type="http://schemas.openxmlformats.org/officeDocument/2006/relationships/image" Target="../media/image88.png"/><Relationship Id="rId4" Type="http://schemas.openxmlformats.org/officeDocument/2006/relationships/image" Target="../media/image10.png"/><Relationship Id="rId9" Type="http://schemas.openxmlformats.org/officeDocument/2006/relationships/image" Target="../media/image79.png"/><Relationship Id="rId14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png"/><Relationship Id="rId3" Type="http://schemas.openxmlformats.org/officeDocument/2006/relationships/image" Target="../media/image9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26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92.png"/><Relationship Id="rId14" Type="http://schemas.openxmlformats.org/officeDocument/2006/relationships/image" Target="../media/image9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10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9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26.png"/><Relationship Id="rId10" Type="http://schemas.openxmlformats.org/officeDocument/2006/relationships/image" Target="../media/image117.png"/><Relationship Id="rId4" Type="http://schemas.openxmlformats.org/officeDocument/2006/relationships/image" Target="../media/image10.png"/><Relationship Id="rId9" Type="http://schemas.openxmlformats.org/officeDocument/2006/relationships/image" Target="../media/image1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3" Type="http://schemas.openxmlformats.org/officeDocument/2006/relationships/image" Target="../media/image9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4" Type="http://schemas.openxmlformats.org/officeDocument/2006/relationships/image" Target="../media/image10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905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0" y="4476750"/>
            <a:ext cx="142875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5905500"/>
            <a:ext cx="1428750" cy="1428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800" y="2743200"/>
            <a:ext cx="9144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6900" y="3086100"/>
            <a:ext cx="8458200" cy="1866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-86365" y="1371600"/>
            <a:ext cx="12364581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4361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Movie Recommendation System</a:t>
            </a:r>
            <a:endParaRPr lang="en-US" sz="4500" dirty="0"/>
          </a:p>
        </p:txBody>
      </p:sp>
      <p:sp>
        <p:nvSpPr>
          <p:cNvPr id="11" name="Text 1"/>
          <p:cNvSpPr/>
          <p:nvPr/>
        </p:nvSpPr>
        <p:spPr>
          <a:xfrm>
            <a:off x="944017" y="2019300"/>
            <a:ext cx="1030381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CPIT 440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2095500" y="3314700"/>
            <a:ext cx="8001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Team Members: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1905000" y="3695700"/>
            <a:ext cx="819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Muath Abbas Eissa [2338818]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1905000" y="3962400"/>
            <a:ext cx="819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Meshal Ahmad AlAjliani [2335521]</a:t>
            </a:r>
            <a:endParaRPr lang="en-US" sz="1200" dirty="0"/>
          </a:p>
        </p:txBody>
      </p:sp>
      <p:sp>
        <p:nvSpPr>
          <p:cNvPr id="15" name="Text 5"/>
          <p:cNvSpPr/>
          <p:nvPr/>
        </p:nvSpPr>
        <p:spPr>
          <a:xfrm>
            <a:off x="1905000" y="4229100"/>
            <a:ext cx="819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Hashim Yaser Bajaber [2336321]</a:t>
            </a:r>
            <a:endParaRPr lang="en-US" sz="1200" dirty="0"/>
          </a:p>
        </p:txBody>
      </p:sp>
      <p:sp>
        <p:nvSpPr>
          <p:cNvPr id="16" name="Text 6"/>
          <p:cNvSpPr/>
          <p:nvPr/>
        </p:nvSpPr>
        <p:spPr>
          <a:xfrm>
            <a:off x="1905000" y="4495800"/>
            <a:ext cx="819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Mohammed Khalid Alahmadi [2340345]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4829056" y="5257800"/>
            <a:ext cx="25338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Submitted to: Dr. Mahmoud</a:t>
            </a:r>
            <a:endParaRPr lang="en-US" sz="1200" dirty="0"/>
          </a:p>
        </p:txBody>
      </p:sp>
      <p:sp>
        <p:nvSpPr>
          <p:cNvPr id="18" name="Text 8"/>
          <p:cNvSpPr/>
          <p:nvPr/>
        </p:nvSpPr>
        <p:spPr>
          <a:xfrm>
            <a:off x="10324743" y="6324600"/>
            <a:ext cx="17044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December 6,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6685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85950"/>
            <a:ext cx="5334000" cy="2857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11455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64795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33375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01955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466850"/>
            <a:ext cx="7620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885950"/>
            <a:ext cx="5334000" cy="3276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211455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2647950"/>
            <a:ext cx="19050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3333750"/>
            <a:ext cx="19050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4019550"/>
            <a:ext cx="19050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4705350"/>
            <a:ext cx="190500" cy="1714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238125"/>
            <a:ext cx="588912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Overview &amp; Goals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1371600" y="1314450"/>
            <a:ext cx="18071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Overview</a:t>
            </a:r>
            <a:endParaRPr lang="en-US" sz="2250" dirty="0"/>
          </a:p>
        </p:txBody>
      </p:sp>
      <p:sp>
        <p:nvSpPr>
          <p:cNvPr id="19" name="Text 2"/>
          <p:cNvSpPr/>
          <p:nvPr/>
        </p:nvSpPr>
        <p:spPr>
          <a:xfrm>
            <a:off x="1123950" y="2152650"/>
            <a:ext cx="41215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Movie Recommendation System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971550" y="2609850"/>
            <a:ext cx="4591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 of a system that identifies meaningful patterns in movie data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971550" y="3295650"/>
            <a:ext cx="4591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Groups similar movies together using clustering techniques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971550" y="3981450"/>
            <a:ext cx="4591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Applies K-Means clustering algorithm to analyze movie attributes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7315200" y="1314450"/>
            <a:ext cx="107013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Goals</a:t>
            </a:r>
            <a:endParaRPr lang="en-US" sz="2250" dirty="0"/>
          </a:p>
        </p:txBody>
      </p:sp>
      <p:sp>
        <p:nvSpPr>
          <p:cNvPr id="24" name="Text 7"/>
          <p:cNvSpPr/>
          <p:nvPr/>
        </p:nvSpPr>
        <p:spPr>
          <a:xfrm>
            <a:off x="7067550" y="2152650"/>
            <a:ext cx="255371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Outcomes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6934200" y="2609850"/>
            <a:ext cx="4572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 what movies a user may enjoy based on similarities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6934200" y="3295650"/>
            <a:ext cx="4572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movies with similar genres and numerical characteristics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6934200" y="3981450"/>
            <a:ext cx="4572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meaningful movie recommendations to users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6934200" y="4667250"/>
            <a:ext cx="53101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a model that forms groups of similar movies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6685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85950"/>
            <a:ext cx="5334000" cy="2552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171700"/>
            <a:ext cx="3048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83845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29908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60045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75285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466850"/>
            <a:ext cx="7620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885950"/>
            <a:ext cx="2590800" cy="1257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207645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0" y="1885950"/>
            <a:ext cx="2590800" cy="1257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4500" y="207645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295650"/>
            <a:ext cx="2590800" cy="1257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1300" y="3486150"/>
            <a:ext cx="25717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0" y="3295650"/>
            <a:ext cx="2590800" cy="1257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4500" y="3486150"/>
            <a:ext cx="22860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238125"/>
            <a:ext cx="468808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Information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371600" y="1314450"/>
            <a:ext cx="266604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 &amp; Size</a:t>
            </a:r>
            <a:endParaRPr lang="en-US" sz="2250" dirty="0"/>
          </a:p>
        </p:txBody>
      </p:sp>
      <p:sp>
        <p:nvSpPr>
          <p:cNvPr id="22" name="Text 2"/>
          <p:cNvSpPr/>
          <p:nvPr/>
        </p:nvSpPr>
        <p:spPr>
          <a:xfrm>
            <a:off x="1143000" y="2114550"/>
            <a:ext cx="29385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IMDB Dataset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143000" y="2381250"/>
            <a:ext cx="29385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IMDB_All_Genres_etf_clean1.csv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447800" y="2876550"/>
            <a:ext cx="13130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Rows (Movies)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447800" y="3105150"/>
            <a:ext cx="131302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5,562</a:t>
            </a:r>
            <a:endParaRPr lang="en-US" sz="1800" dirty="0"/>
          </a:p>
        </p:txBody>
      </p:sp>
      <p:sp>
        <p:nvSpPr>
          <p:cNvPr id="26" name="Text 6"/>
          <p:cNvSpPr/>
          <p:nvPr/>
        </p:nvSpPr>
        <p:spPr>
          <a:xfrm>
            <a:off x="1447800" y="3638550"/>
            <a:ext cx="18993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Columns (Attributes)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1447800" y="3867150"/>
            <a:ext cx="158278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</a:t>
            </a:r>
            <a:endParaRPr lang="en-US" sz="1800" dirty="0"/>
          </a:p>
        </p:txBody>
      </p:sp>
      <p:sp>
        <p:nvSpPr>
          <p:cNvPr id="28" name="Text 8"/>
          <p:cNvSpPr/>
          <p:nvPr/>
        </p:nvSpPr>
        <p:spPr>
          <a:xfrm>
            <a:off x="7315200" y="1314450"/>
            <a:ext cx="253335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2250" dirty="0"/>
          </a:p>
        </p:txBody>
      </p:sp>
      <p:sp>
        <p:nvSpPr>
          <p:cNvPr id="29" name="Text 9"/>
          <p:cNvSpPr/>
          <p:nvPr/>
        </p:nvSpPr>
        <p:spPr>
          <a:xfrm>
            <a:off x="6934200" y="2095500"/>
            <a:ext cx="132820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 Genre</a:t>
            </a:r>
            <a:endParaRPr lang="en-US" sz="1350" dirty="0"/>
          </a:p>
        </p:txBody>
      </p:sp>
      <p:sp>
        <p:nvSpPr>
          <p:cNvPr id="30" name="Text 10"/>
          <p:cNvSpPr/>
          <p:nvPr/>
        </p:nvSpPr>
        <p:spPr>
          <a:xfrm>
            <a:off x="6591300" y="2495550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genre classification of movies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9677400" y="2095500"/>
            <a:ext cx="12730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Side Genre</a:t>
            </a:r>
            <a:endParaRPr lang="en-US" sz="1350" dirty="0"/>
          </a:p>
        </p:txBody>
      </p:sp>
      <p:sp>
        <p:nvSpPr>
          <p:cNvPr id="32" name="Text 12"/>
          <p:cNvSpPr/>
          <p:nvPr/>
        </p:nvSpPr>
        <p:spPr>
          <a:xfrm>
            <a:off x="9334500" y="2495550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Secondary genre classification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6962775" y="3505200"/>
            <a:ext cx="7599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Rating</a:t>
            </a:r>
            <a:endParaRPr lang="en-US" sz="1350" dirty="0"/>
          </a:p>
        </p:txBody>
      </p:sp>
      <p:sp>
        <p:nvSpPr>
          <p:cNvPr id="34" name="Text 14"/>
          <p:cNvSpPr/>
          <p:nvPr/>
        </p:nvSpPr>
        <p:spPr>
          <a:xfrm>
            <a:off x="6591300" y="3905250"/>
            <a:ext cx="2651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Movie rating information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9677400" y="3505200"/>
            <a:ext cx="17780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Runtime (Mins)</a:t>
            </a:r>
            <a:endParaRPr lang="en-US" sz="1350" dirty="0"/>
          </a:p>
        </p:txBody>
      </p:sp>
      <p:sp>
        <p:nvSpPr>
          <p:cNvPr id="36" name="Text 16"/>
          <p:cNvSpPr/>
          <p:nvPr/>
        </p:nvSpPr>
        <p:spPr>
          <a:xfrm>
            <a:off x="9334500" y="3905250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Duration of movies in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162050"/>
            <a:ext cx="5676900" cy="3543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490663"/>
            <a:ext cx="5715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100" y="1381125"/>
            <a:ext cx="20002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82880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133600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43840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743200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048000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3295650"/>
            <a:ext cx="47625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933950"/>
            <a:ext cx="5676900" cy="1619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5262563"/>
            <a:ext cx="571500" cy="285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1100" y="5153025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162050"/>
            <a:ext cx="5676900" cy="53911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490663"/>
            <a:ext cx="571500" cy="285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6600" y="1381125"/>
            <a:ext cx="257175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0" y="2790825"/>
            <a:ext cx="2857500" cy="1905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5257800"/>
            <a:ext cx="5295900" cy="1104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5410200"/>
            <a:ext cx="142875" cy="2667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238125"/>
            <a:ext cx="575536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Exploration Results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457325" y="1352550"/>
            <a:ext cx="37958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Release Year Analysis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990600" y="1771650"/>
            <a:ext cx="18125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Range: 1920 - 2022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990600" y="2076450"/>
            <a:ext cx="12503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Median: 2007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990600" y="2381250"/>
            <a:ext cx="8454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Q1: 1997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990600" y="2686050"/>
            <a:ext cx="8454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Q3: 2014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990600" y="2990850"/>
            <a:ext cx="12331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IQR: 17 years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1485900" y="5124450"/>
            <a:ext cx="341596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Rating Distribution</a:t>
            </a:r>
            <a:endParaRPr lang="en-US" sz="1800" dirty="0"/>
          </a:p>
        </p:txBody>
      </p:sp>
      <p:sp>
        <p:nvSpPr>
          <p:cNvPr id="30" name="Text 8"/>
          <p:cNvSpPr/>
          <p:nvPr/>
        </p:nvSpPr>
        <p:spPr>
          <a:xfrm>
            <a:off x="800100" y="5543550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dataset includes movies with various rating distributions.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800100" y="5848350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histogram would show the frequency of movies across different rating ranges.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7419975" y="1352550"/>
            <a:ext cx="322468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Correlation Study</a:t>
            </a: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6400800" y="1771650"/>
            <a:ext cx="5295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correlation matrix was generated to understand the relationships between numerical attributes.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6810375" y="5410200"/>
            <a:ext cx="13701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6553200" y="5753100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Strongest correlation (excluding self-correlation): </a:t>
            </a: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Rating ↔ Runtime(Mins): 0.323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371600"/>
            <a:ext cx="457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95450"/>
            <a:ext cx="11430000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914525"/>
            <a:ext cx="19050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162300"/>
            <a:ext cx="4572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486150"/>
            <a:ext cx="2743200" cy="2438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752850"/>
            <a:ext cx="3079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188" y="386715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36245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629150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89585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3486150"/>
            <a:ext cx="2743200" cy="2438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7100" y="3752850"/>
            <a:ext cx="265807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23804" y="38671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67100" y="4362450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67100" y="4629150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67100" y="4895850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2200" y="3486150"/>
            <a:ext cx="2743200" cy="2438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2700" y="3752850"/>
            <a:ext cx="264914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8957" y="38671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4362450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4629150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4895850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67800" y="3486150"/>
            <a:ext cx="2743200" cy="2438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58300" y="367665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53550" y="3790950"/>
            <a:ext cx="1905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58300" y="4210050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58300" y="4476750"/>
            <a:ext cx="133350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58300" y="4933950"/>
            <a:ext cx="133350" cy="13335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238125"/>
            <a:ext cx="587769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Methodology &amp; Approach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990600" y="1238250"/>
            <a:ext cx="289089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Task Formalization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838200" y="1885950"/>
            <a:ext cx="11049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This project is formalized as a </a:t>
            </a: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clustering task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utilizing the K-Means algorithm to group movies based on similarities in their content-based attributes and numerical features.</a:t>
            </a:r>
            <a:endParaRPr lang="en-US" sz="1350" dirty="0"/>
          </a:p>
        </p:txBody>
      </p:sp>
      <p:sp>
        <p:nvSpPr>
          <p:cNvPr id="35" name="Text 3"/>
          <p:cNvSpPr/>
          <p:nvPr/>
        </p:nvSpPr>
        <p:spPr>
          <a:xfrm>
            <a:off x="990600" y="3028950"/>
            <a:ext cx="437036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Preprocessing Pipeline</a:t>
            </a:r>
            <a:endParaRPr lang="en-US" sz="1800" dirty="0"/>
          </a:p>
        </p:txBody>
      </p:sp>
      <p:sp>
        <p:nvSpPr>
          <p:cNvPr id="36" name="Text 4"/>
          <p:cNvSpPr/>
          <p:nvPr/>
        </p:nvSpPr>
        <p:spPr>
          <a:xfrm>
            <a:off x="993725" y="3676650"/>
            <a:ext cx="193997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Combining Text Features</a:t>
            </a:r>
            <a:endParaRPr lang="en-US" sz="1350" dirty="0"/>
          </a:p>
        </p:txBody>
      </p:sp>
      <p:sp>
        <p:nvSpPr>
          <p:cNvPr id="37" name="Text 5"/>
          <p:cNvSpPr/>
          <p:nvPr/>
        </p:nvSpPr>
        <p:spPr>
          <a:xfrm>
            <a:off x="781050" y="4324350"/>
            <a:ext cx="8674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Movie Title</a:t>
            </a: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781050" y="4591050"/>
            <a:ext cx="9176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 Genre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781050" y="4857750"/>
            <a:ext cx="8815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Side Genre</a:t>
            </a:r>
            <a:endParaRPr lang="en-US" sz="1050" dirty="0"/>
          </a:p>
        </p:txBody>
      </p:sp>
      <p:sp>
        <p:nvSpPr>
          <p:cNvPr id="40" name="Text 8"/>
          <p:cNvSpPr/>
          <p:nvPr/>
        </p:nvSpPr>
        <p:spPr>
          <a:xfrm>
            <a:off x="3847207" y="3676650"/>
            <a:ext cx="198209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Text to Numerical Conversion</a:t>
            </a:r>
            <a:endParaRPr lang="en-US" sz="1350" dirty="0"/>
          </a:p>
        </p:txBody>
      </p:sp>
      <p:sp>
        <p:nvSpPr>
          <p:cNvPr id="41" name="Text 9"/>
          <p:cNvSpPr/>
          <p:nvPr/>
        </p:nvSpPr>
        <p:spPr>
          <a:xfrm>
            <a:off x="3676650" y="4324350"/>
            <a:ext cx="12778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CountVectorizer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3676650" y="4591050"/>
            <a:ext cx="25671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Converts text to numerical form</a:t>
            </a:r>
            <a:endParaRPr lang="en-US" sz="1050" dirty="0"/>
          </a:p>
        </p:txBody>
      </p:sp>
      <p:sp>
        <p:nvSpPr>
          <p:cNvPr id="43" name="Text 11"/>
          <p:cNvSpPr/>
          <p:nvPr/>
        </p:nvSpPr>
        <p:spPr>
          <a:xfrm>
            <a:off x="3676650" y="4857750"/>
            <a:ext cx="225778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K-Means processing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6741914" y="3676650"/>
            <a:ext cx="198298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Numerical Attribute Inclusion</a:t>
            </a:r>
            <a:endParaRPr lang="en-US" sz="1350" dirty="0"/>
          </a:p>
        </p:txBody>
      </p:sp>
      <p:sp>
        <p:nvSpPr>
          <p:cNvPr id="45" name="Text 13"/>
          <p:cNvSpPr/>
          <p:nvPr/>
        </p:nvSpPr>
        <p:spPr>
          <a:xfrm>
            <a:off x="6572250" y="4324350"/>
            <a:ext cx="5159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Rating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6572250" y="4591050"/>
            <a:ext cx="66847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Runtime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6572250" y="4857750"/>
            <a:ext cx="33879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Year</a:t>
            </a:r>
            <a:endParaRPr lang="en-US" sz="1050" dirty="0"/>
          </a:p>
        </p:txBody>
      </p:sp>
      <p:sp>
        <p:nvSpPr>
          <p:cNvPr id="48" name="Text 16"/>
          <p:cNvSpPr/>
          <p:nvPr/>
        </p:nvSpPr>
        <p:spPr>
          <a:xfrm>
            <a:off x="9753600" y="3733800"/>
            <a:ext cx="18118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Scaling</a:t>
            </a:r>
            <a:endParaRPr lang="en-US" sz="1350" dirty="0"/>
          </a:p>
        </p:txBody>
      </p:sp>
      <p:sp>
        <p:nvSpPr>
          <p:cNvPr id="49" name="Text 17"/>
          <p:cNvSpPr/>
          <p:nvPr/>
        </p:nvSpPr>
        <p:spPr>
          <a:xfrm>
            <a:off x="9467850" y="4171950"/>
            <a:ext cx="11112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MinMaxScaler</a:t>
            </a:r>
            <a:endParaRPr lang="en-US" sz="1050" dirty="0"/>
          </a:p>
        </p:txBody>
      </p:sp>
      <p:sp>
        <p:nvSpPr>
          <p:cNvPr id="50" name="Text 18"/>
          <p:cNvSpPr/>
          <p:nvPr/>
        </p:nvSpPr>
        <p:spPr>
          <a:xfrm>
            <a:off x="9467850" y="4438650"/>
            <a:ext cx="2152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Ensures appropriate contribution</a:t>
            </a:r>
            <a:endParaRPr lang="en-US" sz="1050" dirty="0"/>
          </a:p>
        </p:txBody>
      </p:sp>
      <p:sp>
        <p:nvSpPr>
          <p:cNvPr id="51" name="Text 19"/>
          <p:cNvSpPr/>
          <p:nvPr/>
        </p:nvSpPr>
        <p:spPr>
          <a:xfrm>
            <a:off x="9467850" y="4895850"/>
            <a:ext cx="16768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clustering process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76450"/>
            <a:ext cx="5524500" cy="152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30505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3812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076450"/>
            <a:ext cx="5524500" cy="1524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230505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38125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829050"/>
            <a:ext cx="55245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05765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813" y="41338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3829050"/>
            <a:ext cx="5524500" cy="1524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05765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4133850"/>
            <a:ext cx="228600" cy="3048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238125"/>
            <a:ext cx="624435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Selection Strategy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457200" y="131445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the clustering model, we selected specific attributes that meaningfully describe movie content and measurable characteristics: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295400" y="2381250"/>
            <a:ext cx="177075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 Genre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1295400" y="291465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genre category that defines the movie's core classification and theme.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7048500" y="2381250"/>
            <a:ext cx="169735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Side Genre</a:t>
            </a:r>
            <a:endParaRPr lang="en-US" sz="1800" dirty="0"/>
          </a:p>
        </p:txBody>
      </p:sp>
      <p:sp>
        <p:nvSpPr>
          <p:cNvPr id="21" name="Text 5"/>
          <p:cNvSpPr/>
          <p:nvPr/>
        </p:nvSpPr>
        <p:spPr>
          <a:xfrm>
            <a:off x="7048500" y="291465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Secondary genre information that provides additional context and nuance to the movie's classification.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1295400" y="4133850"/>
            <a:ext cx="101316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Rating</a:t>
            </a:r>
            <a:endParaRPr lang="en-US" sz="1800" dirty="0"/>
          </a:p>
        </p:txBody>
      </p:sp>
      <p:sp>
        <p:nvSpPr>
          <p:cNvPr id="23" name="Text 7"/>
          <p:cNvSpPr/>
          <p:nvPr/>
        </p:nvSpPr>
        <p:spPr>
          <a:xfrm>
            <a:off x="1295400" y="466725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rating that reflects audience reception and provides a measure of movie quality and popularity.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7048500" y="4133850"/>
            <a:ext cx="23708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Runtime (Mins)</a:t>
            </a:r>
            <a:endParaRPr lang="en-US" sz="1800" dirty="0"/>
          </a:p>
        </p:txBody>
      </p:sp>
      <p:sp>
        <p:nvSpPr>
          <p:cNvPr id="25" name="Text 9"/>
          <p:cNvSpPr/>
          <p:nvPr/>
        </p:nvSpPr>
        <p:spPr>
          <a:xfrm>
            <a:off x="7048500" y="466725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Duration of the movie providing information about viewing time commitment and pacing.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6685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85950"/>
            <a:ext cx="5334000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11455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64795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06705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019550"/>
            <a:ext cx="5334000" cy="2286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248150"/>
            <a:ext cx="487680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466850"/>
            <a:ext cx="7620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885950"/>
            <a:ext cx="5334000" cy="1905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211455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2647950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3333750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019550"/>
            <a:ext cx="5334000" cy="1905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4248150"/>
            <a:ext cx="2857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781550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29400" y="5467350"/>
            <a:ext cx="171450" cy="17145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238125"/>
            <a:ext cx="5372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Training Process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371600" y="1314450"/>
            <a:ext cx="366706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K-Means Algorithm</a:t>
            </a:r>
            <a:endParaRPr lang="en-US" sz="2250" dirty="0"/>
          </a:p>
        </p:txBody>
      </p:sp>
      <p:sp>
        <p:nvSpPr>
          <p:cNvPr id="22" name="Text 2"/>
          <p:cNvSpPr/>
          <p:nvPr/>
        </p:nvSpPr>
        <p:spPr>
          <a:xfrm>
            <a:off x="1200150" y="2152650"/>
            <a:ext cx="20473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971550" y="2609850"/>
            <a:ext cx="53454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Applied K-Means clustering to movie data attributes</a:t>
            </a:r>
            <a:endParaRPr lang="en-US" sz="1350" dirty="0"/>
          </a:p>
        </p:txBody>
      </p:sp>
      <p:sp>
        <p:nvSpPr>
          <p:cNvPr id="24" name="Text 4"/>
          <p:cNvSpPr/>
          <p:nvPr/>
        </p:nvSpPr>
        <p:spPr>
          <a:xfrm>
            <a:off x="971550" y="3028950"/>
            <a:ext cx="4591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numerical representation of genres with rating and runtime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7315200" y="1314450"/>
            <a:ext cx="329648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Cluster Selection</a:t>
            </a:r>
            <a:endParaRPr lang="en-US" sz="2250" dirty="0"/>
          </a:p>
        </p:txBody>
      </p:sp>
      <p:sp>
        <p:nvSpPr>
          <p:cNvPr id="26" name="Text 6"/>
          <p:cNvSpPr/>
          <p:nvPr/>
        </p:nvSpPr>
        <p:spPr>
          <a:xfrm>
            <a:off x="7067550" y="2152650"/>
            <a:ext cx="18212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Elbow Method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6915150" y="2609850"/>
            <a:ext cx="4591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Elbow Method did not show a clear or strong elbow point</a:t>
            </a:r>
            <a:endParaRPr lang="en-US" sz="1350" dirty="0"/>
          </a:p>
        </p:txBody>
      </p:sp>
      <p:sp>
        <p:nvSpPr>
          <p:cNvPr id="28" name="Text 8"/>
          <p:cNvSpPr/>
          <p:nvPr/>
        </p:nvSpPr>
        <p:spPr>
          <a:xfrm>
            <a:off x="6915150" y="3295650"/>
            <a:ext cx="49688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Tested various K values to assess cluster quality</a:t>
            </a:r>
            <a:endParaRPr lang="en-US" sz="1350" dirty="0"/>
          </a:p>
        </p:txBody>
      </p:sp>
      <p:sp>
        <p:nvSpPr>
          <p:cNvPr id="29" name="Text 9"/>
          <p:cNvSpPr/>
          <p:nvPr/>
        </p:nvSpPr>
        <p:spPr>
          <a:xfrm>
            <a:off x="7067550" y="4286250"/>
            <a:ext cx="22011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Selected K = 180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6915150" y="4743450"/>
            <a:ext cx="45910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Produced movie clusters with better genre-based similarities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6915150" y="5429250"/>
            <a:ext cx="52329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more meaningful groups of similar movies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6685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85950"/>
            <a:ext cx="5410200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114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219450"/>
            <a:ext cx="5410200" cy="1866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448050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466850"/>
            <a:ext cx="7620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1885950"/>
            <a:ext cx="5410200" cy="2705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0950" y="2533650"/>
            <a:ext cx="2857500" cy="1828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4819650"/>
            <a:ext cx="5410200" cy="2019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55054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58483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6191250"/>
            <a:ext cx="1524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238125"/>
            <a:ext cx="60680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Evaluation &amp; Performance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371600" y="1314450"/>
            <a:ext cx="40265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Metrics</a:t>
            </a:r>
            <a:endParaRPr lang="en-US" sz="2250" dirty="0"/>
          </a:p>
        </p:txBody>
      </p:sp>
      <p:sp>
        <p:nvSpPr>
          <p:cNvPr id="18" name="Text 2"/>
          <p:cNvSpPr/>
          <p:nvPr/>
        </p:nvSpPr>
        <p:spPr>
          <a:xfrm>
            <a:off x="1066800" y="2133600"/>
            <a:ext cx="39704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Within-Cluster Sum of Squares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143000" y="2533650"/>
            <a:ext cx="5394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Evaluates cluster compactness across different values of K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1123950" y="3467100"/>
            <a:ext cx="213723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Silhouette Score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1143000" y="386715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Measures how similar an object is to its own cluster compared to other clusters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2500610" y="4476750"/>
            <a:ext cx="158787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0.7947</a:t>
            </a:r>
            <a:endParaRPr lang="en-US" sz="2700" dirty="0"/>
          </a:p>
        </p:txBody>
      </p:sp>
      <p:sp>
        <p:nvSpPr>
          <p:cNvPr id="23" name="Text 7"/>
          <p:cNvSpPr/>
          <p:nvPr/>
        </p:nvSpPr>
        <p:spPr>
          <a:xfrm>
            <a:off x="7239000" y="1314450"/>
            <a:ext cx="39192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 &amp; Validation</a:t>
            </a:r>
            <a:endParaRPr lang="en-US" sz="2250" dirty="0"/>
          </a:p>
        </p:txBody>
      </p:sp>
      <p:sp>
        <p:nvSpPr>
          <p:cNvPr id="24" name="Text 8"/>
          <p:cNvSpPr/>
          <p:nvPr/>
        </p:nvSpPr>
        <p:spPr>
          <a:xfrm>
            <a:off x="6057900" y="2114550"/>
            <a:ext cx="5943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Silhouette Score Visualization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6553200" y="504825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6819900" y="5467350"/>
            <a:ext cx="54272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Silhouette Score indicates effective cluster separation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6819900" y="5810250"/>
            <a:ext cx="36658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Movies within clusters are highly similar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6819900" y="6153150"/>
            <a:ext cx="4686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inspection confirmed thematic similarities between clusters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38250"/>
            <a:ext cx="5562600" cy="25812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6685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5430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270510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009900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238250"/>
            <a:ext cx="5562600" cy="25812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4668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2725" y="1543050"/>
            <a:ext cx="2857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2705100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300990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124325"/>
            <a:ext cx="5562600" cy="23526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352925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4429125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9200" y="5362575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9200" y="5667375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4124325"/>
            <a:ext cx="5562600" cy="23526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4352925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19875" y="4429125"/>
            <a:ext cx="17145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86600" y="5362575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86600" y="5667375"/>
            <a:ext cx="1143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238125"/>
            <a:ext cx="637365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Challenges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1219200" y="1543050"/>
            <a:ext cx="484721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Inconsistent Genre Information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1219200" y="207645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Preparing the data required careful handling of inconsistent genre labels.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1409700" y="2647950"/>
            <a:ext cx="48761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Movies had multiple genre tags that needed merging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409700" y="2952750"/>
            <a:ext cx="44644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Standardizing genre descriptions for consistency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7086600" y="1543050"/>
            <a:ext cx="432911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Balancing Feature Influence</a:t>
            </a:r>
            <a:endParaRPr lang="en-US" sz="1800" dirty="0"/>
          </a:p>
        </p:txBody>
      </p:sp>
      <p:sp>
        <p:nvSpPr>
          <p:cNvPr id="30" name="Text 6"/>
          <p:cNvSpPr/>
          <p:nvPr/>
        </p:nvSpPr>
        <p:spPr>
          <a:xfrm>
            <a:off x="7086600" y="207645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Determining how to balance the influence of different features.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7277100" y="2647950"/>
            <a:ext cx="47248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Adjusting numerical values like ratings and runtime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7277100" y="2952750"/>
            <a:ext cx="47689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Ensuring no single feature dominated the clustering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1219200" y="4429125"/>
            <a:ext cx="395245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Cluster Selection</a:t>
            </a:r>
            <a:endParaRPr lang="en-US" sz="1800" dirty="0"/>
          </a:p>
        </p:txBody>
      </p:sp>
      <p:sp>
        <p:nvSpPr>
          <p:cNvPr id="34" name="Text 10"/>
          <p:cNvSpPr/>
          <p:nvPr/>
        </p:nvSpPr>
        <p:spPr>
          <a:xfrm>
            <a:off x="1219200" y="4962525"/>
            <a:ext cx="5394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Choosing the appropriate number of clusters was difficult.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1409700" y="5305425"/>
            <a:ext cx="43482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WCSS values did not form a clear "elbow" point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1409700" y="5610225"/>
            <a:ext cx="44191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Relying on Silhouette analysis for cluster quality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7086600" y="4429125"/>
            <a:ext cx="398621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Cluster Validation</a:t>
            </a:r>
            <a:endParaRPr lang="en-US" sz="1800" dirty="0"/>
          </a:p>
        </p:txBody>
      </p:sp>
      <p:sp>
        <p:nvSpPr>
          <p:cNvPr id="38" name="Text 14"/>
          <p:cNvSpPr/>
          <p:nvPr/>
        </p:nvSpPr>
        <p:spPr>
          <a:xfrm>
            <a:off x="7086600" y="4962525"/>
            <a:ext cx="5394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Evaluating the meaningfulness of the resulting clusters.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7277100" y="5305425"/>
            <a:ext cx="40272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inspection of movie groups required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7277100" y="5610225"/>
            <a:ext cx="42721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Confirming thematic and structural similarities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6685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43238"/>
            <a:ext cx="3606701" cy="2095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271838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501" y="3043238"/>
            <a:ext cx="3606850" cy="2095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1101" y="3367088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3043238"/>
            <a:ext cx="3606701" cy="2095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6550" y="3271838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443538"/>
            <a:ext cx="11277600" cy="838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710238"/>
            <a:ext cx="228600" cy="3048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238125"/>
            <a:ext cx="487900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 &amp; Results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1371600" y="1314450"/>
            <a:ext cx="33223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Summary</a:t>
            </a:r>
            <a:endParaRPr lang="en-US" sz="2250" dirty="0"/>
          </a:p>
        </p:txBody>
      </p:sp>
      <p:sp>
        <p:nvSpPr>
          <p:cNvPr id="15" name="Text 2"/>
          <p:cNvSpPr/>
          <p:nvPr/>
        </p:nvSpPr>
        <p:spPr>
          <a:xfrm>
            <a:off x="457200" y="1809750"/>
            <a:ext cx="11277600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project successfully applied K-Means clustering to group movies based on their main and side genres, along with numerical features like rating and runtime. This clustering approach created meaningful similarity patterns between films, establishing a strong foundation for a content-based movie recommendation system.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1123950" y="3309938"/>
            <a:ext cx="27130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Meaningful Grouping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685800" y="3767138"/>
            <a:ext cx="3149501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K-Means clustering successfully identified groups of movies with similar genres and characteristics, creating logical groupings that align with user preferences.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4959251" y="3271838"/>
            <a:ext cx="2711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Content-Based Foundation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4521101" y="3957638"/>
            <a:ext cx="31496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clustering step provides a solid foundation for developing a content-based recommendation system where similar films can be suggested to users.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8794700" y="3309938"/>
            <a:ext cx="26844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Metrics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8356550" y="3767138"/>
            <a:ext cx="3149501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final model with K=180 achieved a Silhouette Score of 0.7947, indicating well-separated clusters with high intra-cluster similarity.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990600" y="5595938"/>
            <a:ext cx="10591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Achievement: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Manual inspection confirmed that movies within the same cluster consistently shared similar genres and themes, validating the effectiveness of the clustering setup for generating meaningful recommendations.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14450"/>
            <a:ext cx="5486400" cy="2390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314450"/>
            <a:ext cx="5486400" cy="2390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154305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013" y="161925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286125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010025"/>
            <a:ext cx="5486400" cy="23907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238625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4314825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98170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75" y="1529715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1590675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3286125"/>
            <a:ext cx="13335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238125"/>
            <a:ext cx="686407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Work &amp; Improvements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95400" y="1638300"/>
            <a:ext cx="39263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Feedback Evaluation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685800" y="2152650"/>
            <a:ext cx="50292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systems to evaluate recommendations using real user feedback or viewing history to measure effectiveness.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895350" y="3248025"/>
            <a:ext cx="22454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EAB30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improvements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086600" y="1638300"/>
            <a:ext cx="28474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Alternative Clustering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6477000" y="215265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different clustering techniques like hierarchical clustering or DBSCAN to explore potentially better movie groupings.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6686550" y="3248025"/>
            <a:ext cx="25981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855F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clustering accuracy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1295400" y="4333875"/>
            <a:ext cx="37168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Feature Learning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85800" y="4848225"/>
            <a:ext cx="50292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 the process of determining which movie features are most important for recommendations, rather than manual selection.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895350" y="5943600"/>
            <a:ext cx="25906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 manual intervention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7086600" y="4333875"/>
            <a:ext cx="33370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31" name="Text 11"/>
          <p:cNvSpPr/>
          <p:nvPr/>
        </p:nvSpPr>
        <p:spPr>
          <a:xfrm>
            <a:off x="6477000" y="48482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876</Words>
  <Application>Microsoft Macintosh PowerPoint</Application>
  <PresentationFormat>Widescreen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KHALID SALIH ALAHMADI</cp:lastModifiedBy>
  <cp:revision>2</cp:revision>
  <dcterms:created xsi:type="dcterms:W3CDTF">2025-12-06T14:13:41Z</dcterms:created>
  <dcterms:modified xsi:type="dcterms:W3CDTF">2025-12-06T14:45:51Z</dcterms:modified>
</cp:coreProperties>
</file>